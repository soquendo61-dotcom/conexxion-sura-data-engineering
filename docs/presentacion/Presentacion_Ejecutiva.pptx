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2A44"/>
                </a:solidFill>
                <a:latin typeface="Calibri"/>
              </a:rPr>
              <a:t>Cuarentena por dataset (corte 2026-08-31)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Duplicados</c:v>
                </c:pt>
              </c:strCache>
            </c:strRef>
          </c:tx>
          <c:spPr>
            <a:solidFill>
              <a:srgbClr val="F2A541"/>
            </a:solidFill>
          </c:spPr>
          <c:cat>
            <c:strRef>
              <c:f>Sheet1!$A$2:$A$6</c:f>
              <c:strCache>
                <c:ptCount val="5"/>
                <c:pt idx="0">
                  <c:v>clientes</c:v>
                </c:pt>
                <c:pt idx="1">
                  <c:v>pólizas</c:v>
                </c:pt>
                <c:pt idx="2">
                  <c:v>recaudos</c:v>
                </c:pt>
                <c:pt idx="3">
                  <c:v>siniestros</c:v>
                </c:pt>
                <c:pt idx="4">
                  <c:v>movimientos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Validez / consistencia</c:v>
                </c:pt>
              </c:strCache>
            </c:strRef>
          </c:tx>
          <c:spPr>
            <a:solidFill>
              <a:srgbClr val="0F2A44"/>
            </a:solidFill>
          </c:spPr>
          <c:cat>
            <c:strRef>
              <c:f>Sheet1!$A$2:$A$6</c:f>
              <c:strCache>
                <c:ptCount val="5"/>
                <c:pt idx="0">
                  <c:v>clientes</c:v>
                </c:pt>
                <c:pt idx="1">
                  <c:v>pólizas</c:v>
                </c:pt>
                <c:pt idx="2">
                  <c:v>recaudos</c:v>
                </c:pt>
                <c:pt idx="3">
                  <c:v>siniestros</c:v>
                </c:pt>
                <c:pt idx="4">
                  <c:v>movimientos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14</c:v>
                </c:pt>
                <c:pt idx="3">
                  <c:v>11</c:v>
                </c:pt>
                <c:pt idx="4">
                  <c:v>8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EE6"/>
            </a:solidFill>
          </a:ln>
        </c:spPr>
        <c:txPr>
          <a:bodyPr/>
          <a:lstStyle/>
          <a:p>
            <a:pPr>
              <a:defRPr sz="1200">
                <a:solidFill>
                  <a:srgbClr val="1F29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2A44"/>
                </a:solidFill>
                <a:latin typeface="Calibri"/>
              </a:rPr>
              <a:t>Pólizas por estado al corte (1.490)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Pólizas</c:v>
                </c:pt>
              </c:strCache>
            </c:strRef>
          </c:tx>
          <c:spPr>
            <a:solidFill>
              <a:srgbClr val="0F2A44"/>
            </a:solidFill>
          </c:spPr>
          <c:dPt>
            <c:idx val="3"/>
            <c:spPr>
              <a:solidFill>
                <a:srgbClr val="1B998B"/>
              </a:solidFill>
            </c:spPr>
          </c:dPt>
          <c:dPt>
            <c:idx val="4"/>
            <c:spPr>
              <a:solidFill>
                <a:srgbClr val="F2A541"/>
              </a:solidFill>
            </c:spPr>
          </c:dPt>
          <c:cat>
            <c:strRef>
              <c:f>Sheet1!$A$2:$A$6</c:f>
              <c:strCache>
                <c:ptCount val="5"/>
                <c:pt idx="0">
                  <c:v>Vencida</c:v>
                </c:pt>
                <c:pt idx="1">
                  <c:v>Cancelada</c:v>
                </c:pt>
                <c:pt idx="2">
                  <c:v>Renovada</c:v>
                </c:pt>
                <c:pt idx="3">
                  <c:v>Vigente</c:v>
                </c:pt>
                <c:pt idx="4">
                  <c:v>Próxima a vencer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669</c:v>
                </c:pt>
                <c:pt idx="1">
                  <c:v>284</c:v>
                </c:pt>
                <c:pt idx="2">
                  <c:v>262</c:v>
                </c:pt>
                <c:pt idx="3">
                  <c:v>236</c:v>
                </c:pt>
                <c:pt idx="4">
                  <c:v>39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EE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 la solución: cómo se llevaron cinco fuentes operacionales a productos de datos gobernados y certificados. Duración sugerida: 15-20 minutos +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la solución no solo transforma datos, también garantiza que lo publicado es confiable y trazable, y que puede reprocesarse sin duplicar. Las cifras salen de la ejecución con los datos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las situaciones intencionales del enunciado se encontraron y cuantificaron. Decisión clave: no corregir arbitrariamente; separar errores (cuarentena) de excepciones válidas (marcadas y reportadas).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objetivo corporativa. En la prueba: volumen UC como landing, tablas Delta administradas, Workflow serverless y GitHub. Diagrama detallado en docs/architecture/diagrama_arquitectura.md.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Separación de responsabilidades Medallion. Un fallo en Silver por regla bloqueante impide que Gold se publique; los consumidores siguen viendo el último corte certificado.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 clave: un dato malo puntual va a cuarentena; un lote roto bloquea la publicación. Los huérfanos y pagos fuera de vigencia NO se rechazan: son discrepancias de negocio a investigar.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Granularidad, claves y métricas documentadas en docs/05_modelo_datos_y_calidad.md. Dimensiones conformadas: cliente, producto, sucursal, canal, periodo y fecha de corte. SCD2 en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las reconciliaciones cuadran exactamente: 1.490 pólizas, prima 11.165.022.382,05, recaudo 7.211.692.057,25 y costo 79.522.530.398,65 entre Silver, poliza_360 y siniestralidad.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Demostrado en notebooks/09: la reejecución con los mismos archivos deja conteos idénticos. Llegadas tardías: entran en el siguiente proceso y el periodo afectado se corrige con backfill.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Acuerdos: archivos a más tardar el día 4; corte certificado el día 5 a las 09:00; P1 con respuesta en 30 minutos. Procedimiento de atención documentado en docs/06_operacion_observabilidad.md.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 no contiene PII. Bronze y cuarentena (que guarda el registro original) son de acceso restringido. En Free Edition los grupos pueden no existir: esas sentencias se reportan como NO_APLICADA.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Trade-off: tres workspaces cuestan más y exigen sincronizar configuración, pero dan aislamiento fuerte, esperado en el sector asegurador. Definición en databricks.yml y .github/workflows.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la solución es reproducible (Git + bundle), auditable (linaje, control, time travel) y reutilizable (contratos, motor de reglas y tareas parametrizadas sirven para nuevos dominios). Pasar 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21040" y="914400"/>
            <a:ext cx="914400" cy="9144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" name="Oval 2"/>
          <p:cNvSpPr/>
          <p:nvPr/>
        </p:nvSpPr>
        <p:spPr>
          <a:xfrm>
            <a:off x="9509760" y="914400"/>
            <a:ext cx="914400" cy="9144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0F2A44"/>
                </a:solidFill>
                <a:latin typeface="Calibri"/>
              </a:rPr>
              <a:t>S</a:t>
            </a:r>
          </a:p>
        </p:txBody>
      </p:sp>
      <p:sp>
        <p:nvSpPr>
          <p:cNvPr id="4" name="Oval 3"/>
          <p:cNvSpPr/>
          <p:nvPr/>
        </p:nvSpPr>
        <p:spPr>
          <a:xfrm>
            <a:off x="10698480" y="914400"/>
            <a:ext cx="914400" cy="914400"/>
          </a:xfrm>
          <a:prstGeom prst="ellipse">
            <a:avLst/>
          </a:prstGeom>
          <a:solidFill>
            <a:srgbClr val="CF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0F2A44"/>
                </a:solidFill>
                <a:latin typeface="Calibri"/>
              </a:rP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Pólizas y siniestros: de archivos operacionales a productos de datos certificados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CFE3F0"/>
                </a:solidFill>
                <a:latin typeface="Calibri"/>
              </a:rPr>
              <a:t>Solución end-to-end en Databricks · Delta Lake · Unity Catalog ·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2A541"/>
                </a:solidFill>
                <a:latin typeface="Calibri"/>
              </a:rPr>
              <a:t>Prueba técnica – Ingeniero de Datos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FE3F0"/>
                </a:solidFill>
                <a:latin typeface="Calibri"/>
              </a:rPr>
              <a:t>Conexxion Sura ·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2A44"/>
                </a:solidFill>
                <a:latin typeface="Cambria"/>
              </a:rPr>
              <a:t>Resumen: datos confiables, trazables y reprocesables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B6B7B"/>
                </a:solidFill>
                <a:latin typeface="Calibri"/>
              </a:rPr>
              <a:t>Cinco fuentes integradas en una arquitectura Medallion con calidad medida y publicación certificada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1B998B"/>
                </a:solidFill>
                <a:latin typeface="Cambr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Calibri"/>
              </a:rPr>
              <a:t>fuentes integradas
Bronze → Silver → Gold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7830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9202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2A541"/>
                </a:solidFill>
                <a:latin typeface="Cambria"/>
              </a:rPr>
              <a:t>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74320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Calibri"/>
              </a:rPr>
              <a:t>registros en cuarentena
con causa y trazabilidad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7830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9202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1B998B"/>
                </a:solidFill>
                <a:latin typeface="Cambria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74320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Calibri"/>
              </a:rPr>
              <a:t>reconciliado
conteos, claves y montos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7830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26296" y="19202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1B998B"/>
                </a:solidFill>
                <a:latin typeface="Cambria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6296" y="274320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Calibri"/>
              </a:rPr>
              <a:t>pruebas automatizadas
+ 13 controles por corrida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77639"/>
            <a:ext cx="11064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b="1" sz="1600">
                <a:solidFill>
                  <a:srgbClr val="1F2933"/>
                </a:solidFill>
                <a:latin typeface="Calibri"/>
              </a:rPr>
              <a:t>Qué resuelve: </a:t>
            </a:r>
            <a:r>
              <a:rPr sz="1600">
                <a:solidFill>
                  <a:srgbClr val="1F2933"/>
                </a:solidFill>
                <a:latin typeface="Calibri"/>
              </a:rPr>
              <a:t>estado integral de la póliza, prima emitida/recaudada/pendiente, siniestralidad mensual y discrepancias.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b="1" sz="1600">
                <a:solidFill>
                  <a:srgbClr val="1F2933"/>
                </a:solidFill>
                <a:latin typeface="Calibri"/>
              </a:rPr>
              <a:t>Cómo garantiza confianza: </a:t>
            </a:r>
            <a:r>
              <a:rPr sz="1600">
                <a:solidFill>
                  <a:srgbClr val="1F2933"/>
                </a:solidFill>
                <a:latin typeface="Calibri"/>
              </a:rPr>
              <a:t>data contracts, 60+ reglas con severidad y umbral, cuarentena, reconciliación entre capas.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b="1" sz="1600">
                <a:solidFill>
                  <a:srgbClr val="1F2933"/>
                </a:solidFill>
                <a:latin typeface="Calibri"/>
              </a:rPr>
              <a:t>Cómo se opera: </a:t>
            </a:r>
            <a:r>
              <a:rPr sz="1600">
                <a:solidFill>
                  <a:srgbClr val="1F2933"/>
                </a:solidFill>
                <a:latin typeface="Calibri"/>
              </a:rPr>
              <a:t>Workflow el día 5 a las 06:00 COT, idempotente, con bitácora, alertas y SLA de publicación.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b="1" sz="1600">
                <a:solidFill>
                  <a:srgbClr val="1F2933"/>
                </a:solidFill>
                <a:latin typeface="Calibri"/>
              </a:rPr>
              <a:t>Cómo escala: </a:t>
            </a:r>
            <a:r>
              <a:rPr sz="1600">
                <a:solidFill>
                  <a:srgbClr val="1F2933"/>
                </a:solidFill>
                <a:latin typeface="Calibri"/>
              </a:rPr>
              <a:t>lógica en módulos probados, Asset Bundles y promoción DEV → QA → PROD.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Prueba técnica · Ingeniero de Datos · Pólizas y siniestros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2A44"/>
                </a:solidFill>
                <a:latin typeface="Cambria"/>
              </a:rPr>
              <a:t>Punto de partida: fuentes con problemas reales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B6B7B"/>
                </a:solidFill>
                <a:latin typeface="Calibri"/>
              </a:rPr>
              <a:t>Perfilamiento de los 5 datasets (19.512 filas) antes de diseñar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2093976"/>
            <a:ext cx="640080" cy="64008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984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A44"/>
                </a:solidFill>
                <a:latin typeface="Calibri"/>
              </a:rPr>
              <a:t>Duplicados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3500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Exactos y reenvíos del mismo hecho con otro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83080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98847" y="2093976"/>
            <a:ext cx="640080" cy="64008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1984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A44"/>
                </a:solidFill>
                <a:latin typeface="Calibri"/>
              </a:rPr>
              <a:t>Fechas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7" y="23500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3 formatos: yyyy-MM-dd, yyyy/MM/dd, dd/MM/yyyy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83080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47888" y="2093976"/>
            <a:ext cx="640080" cy="64008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7" y="1984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A44"/>
                </a:solidFill>
                <a:latin typeface="Calibri"/>
              </a:rPr>
              <a:t>Nulos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7" y="23500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Producto, estado, fecha de pago y de evento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46120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3557015"/>
            <a:ext cx="640080" cy="64008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4472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A44"/>
                </a:solidFill>
                <a:latin typeface="Calibri"/>
              </a:rPr>
              <a:t>Huérfanos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81304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8 pólizas sin cliente, 22 hijos sin póliza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246120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98847" y="3557015"/>
            <a:ext cx="640080" cy="64008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7" y="34472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A44"/>
                </a:solidFill>
                <a:latin typeface="Calibri"/>
              </a:rPr>
              <a:t>Montos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7" y="381304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Primas, recaudos y pagos negativos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246120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47888" y="3557015"/>
            <a:ext cx="640080" cy="64008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7" y="34472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A44"/>
                </a:solidFill>
                <a:latin typeface="Calibri"/>
              </a:rPr>
              <a:t>Tardíos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7" y="381304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76% de recaudos ingeridos &gt; 30 días después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09160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9808" y="5020056"/>
            <a:ext cx="640080" cy="64008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9103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A44"/>
                </a:solidFill>
                <a:latin typeface="Calibri"/>
              </a:rPr>
              <a:t>Esquema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2768" y="527608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Columnas distintas al contrato esperado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79" y="4709160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98847" y="5020056"/>
            <a:ext cx="640080" cy="64008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7" y="49103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A44"/>
                </a:solidFill>
                <a:latin typeface="Calibri"/>
              </a:rPr>
              <a:t>Empates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1807" y="527608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Versiones con la misma marca temporal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4709160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47888" y="5020056"/>
            <a:ext cx="640080" cy="64008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7" y="49103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A44"/>
                </a:solidFill>
                <a:latin typeface="Calibri"/>
              </a:rPr>
              <a:t>Incoherencias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0847" y="527608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Fin de vigencia &lt; inicio, aviso &lt; ocurrencia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Prueba técnica · Ingeniero de Datos · Pólizas y siniestros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2A44"/>
                </a:solidFill>
                <a:latin typeface="Cambria"/>
              </a:rPr>
              <a:t>Arquitectura objetivo: Lakehouse gobernado en Azure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B6B7B"/>
                </a:solidFill>
                <a:latin typeface="Calibri"/>
              </a:rPr>
              <a:t>La prueba implementa el núcleo en un único workspace de Databricks Free Edition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25146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0136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B6B7B"/>
                </a:solidFill>
                <a:latin typeface="Calibri"/>
              </a:rPr>
              <a:t>Fuentes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2240280" cy="50292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1F2933"/>
                </a:solidFill>
                <a:latin typeface="Calibri"/>
              </a:rPr>
              <a:t>CRM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07792"/>
            <a:ext cx="2240280" cy="50292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1F2933"/>
                </a:solidFill>
                <a:latin typeface="Calibri"/>
              </a:rPr>
              <a:t>Core pólizas / siniestros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29584"/>
            <a:ext cx="2240280" cy="50292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1F2933"/>
                </a:solidFill>
                <a:latin typeface="Calibri"/>
              </a:rPr>
              <a:t>Pagos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51376"/>
            <a:ext cx="2240280" cy="50292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1F2933"/>
                </a:solidFill>
                <a:latin typeface="Calibri"/>
              </a:rPr>
              <a:t>Bus de eventos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5146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0136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998B"/>
                </a:solidFill>
                <a:latin typeface="Calibri"/>
              </a:rPr>
              <a:t>Ingesta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286000"/>
            <a:ext cx="2240280" cy="50292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1F2933"/>
                </a:solidFill>
                <a:latin typeface="Calibri"/>
              </a:rPr>
              <a:t>ADF / Lakeflow Connect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907792"/>
            <a:ext cx="2240280" cy="50292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1F2933"/>
                </a:solidFill>
                <a:latin typeface="Calibri"/>
              </a:rPr>
              <a:t>CDC / watermark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529584"/>
            <a:ext cx="2240280" cy="50292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1F2933"/>
                </a:solidFill>
                <a:latin typeface="Calibri"/>
              </a:rPr>
              <a:t>Event Hubs + Auto Loader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91640"/>
            <a:ext cx="25146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0136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A44"/>
                </a:solidFill>
                <a:latin typeface="Calibri"/>
              </a:rPr>
              <a:t>Lakehouse · ADLS + Delta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286000"/>
            <a:ext cx="2240280" cy="502920"/>
          </a:xfrm>
          <a:prstGeom prst="roundRect">
            <a:avLst>
              <a:gd name="adj" fmla="val 2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BRONZE  copia fiel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907792"/>
            <a:ext cx="2240280" cy="502920"/>
          </a:xfrm>
          <a:prstGeom prst="roundRect">
            <a:avLst>
              <a:gd name="adj" fmla="val 2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SILVER  calidad + cuarentena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529584"/>
            <a:ext cx="2240280" cy="502920"/>
          </a:xfrm>
          <a:prstGeom prst="roundRect">
            <a:avLst>
              <a:gd name="adj" fmla="val 20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GOLD  productos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691640"/>
            <a:ext cx="25146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80136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84B31"/>
                </a:solidFill>
                <a:latin typeface="Calibri"/>
              </a:rPr>
              <a:t>Consumo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286000"/>
            <a:ext cx="2240280" cy="50292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1F2933"/>
                </a:solidFill>
                <a:latin typeface="Calibri"/>
              </a:rPr>
              <a:t>Vistas certificadas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2907792"/>
            <a:ext cx="2240280" cy="50292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1F2933"/>
                </a:solidFill>
                <a:latin typeface="Calibri"/>
              </a:rPr>
              <a:t>Power BI / 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3529584"/>
            <a:ext cx="2240280" cy="50292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1F2933"/>
                </a:solidFill>
                <a:latin typeface="Calibri"/>
              </a:rPr>
              <a:t>ML · GenAI (Genie)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4151376"/>
            <a:ext cx="2240280" cy="50292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0">
                <a:solidFill>
                  <a:srgbClr val="1F2933"/>
                </a:solidFill>
                <a:latin typeface="Calibri"/>
              </a:rPr>
              <a:t>Apps operativas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90672" y="3246120"/>
            <a:ext cx="310896" cy="0"/>
          </a:xfrm>
          <a:prstGeom prst="line">
            <a:avLst/>
          </a:prstGeom>
          <a:ln w="22225">
            <a:solidFill>
              <a:srgbClr val="5B6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71031" y="3246120"/>
            <a:ext cx="310897" cy="0"/>
          </a:xfrm>
          <a:prstGeom prst="line">
            <a:avLst/>
          </a:prstGeom>
          <a:ln w="22225">
            <a:solidFill>
              <a:srgbClr val="5B6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51392" y="3246120"/>
            <a:ext cx="310896" cy="0"/>
          </a:xfrm>
          <a:prstGeom prst="line">
            <a:avLst/>
          </a:prstGeom>
          <a:ln w="22225">
            <a:solidFill>
              <a:srgbClr val="5B6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8640" y="5074920"/>
            <a:ext cx="2633472" cy="109728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1937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A541"/>
                </a:solidFill>
                <a:latin typeface="Calibri"/>
              </a:rPr>
              <a:t>Unity Catalog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532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permisos · linaje · tags · máscaras PII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64992" y="5074920"/>
            <a:ext cx="2633472" cy="109728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51937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A541"/>
                </a:solidFill>
                <a:latin typeface="Calibri"/>
              </a:rPr>
              <a:t>Observabilidad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5532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ctl_* · SLA · alertas · system tables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1344" y="5074920"/>
            <a:ext cx="2633472" cy="109728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51937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A541"/>
                </a:solidFill>
                <a:latin typeface="Calibri"/>
              </a:rPr>
              <a:t>CI/CD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5532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GitHub Actions · Bundles · DEV→QA→PROD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5074920"/>
            <a:ext cx="2633472" cy="109728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0576" y="51937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A541"/>
                </a:solidFill>
                <a:latin typeface="Calibri"/>
              </a:rPr>
              <a:t>Seguridad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0576" y="5532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Key Vault · Entra ID · service principals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Prueba técnica · Ingeniero de Datos · Pólizas y siniestros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2A44"/>
                </a:solidFill>
                <a:latin typeface="Cambria"/>
              </a:rPr>
              <a:t>Flujo implementado en cinco tareas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B6B7B"/>
                </a:solidFill>
                <a:latin typeface="Calibri"/>
              </a:rPr>
              <a:t>Cada tarea es idempotente y registra estado, duración y volúmenes en ctl_ejecuciones</a:t>
            </a:r>
          </a:p>
        </p:txBody>
      </p:sp>
      <p:sp>
        <p:nvSpPr>
          <p:cNvPr id="4" name="Pentagon 3"/>
          <p:cNvSpPr/>
          <p:nvPr/>
        </p:nvSpPr>
        <p:spPr>
          <a:xfrm>
            <a:off x="548640" y="1783080"/>
            <a:ext cx="2240280" cy="868680"/>
          </a:xfrm>
          <a:prstGeom prst="homePlat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1. Bronze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88036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017520"/>
            <a:ext cx="18105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Calibri"/>
              </a:rPr>
              <a:t>Hash SHA-256 por archivo, lectura como texto, metadatos de ingesta, contrato</a:t>
            </a:r>
          </a:p>
        </p:txBody>
      </p:sp>
      <p:sp>
        <p:nvSpPr>
          <p:cNvPr id="7" name="Chevron 6"/>
          <p:cNvSpPr/>
          <p:nvPr/>
        </p:nvSpPr>
        <p:spPr>
          <a:xfrm>
            <a:off x="2761488" y="1783080"/>
            <a:ext cx="2240280" cy="868680"/>
          </a:xfrm>
          <a:prstGeom prst="chevron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2. Silver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288036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3017520"/>
            <a:ext cx="18105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Calibri"/>
              </a:rPr>
              <a:t>Tipado multiformato, deduplicación, integridad, reglas, cuarentena, MERGE</a:t>
            </a:r>
          </a:p>
        </p:txBody>
      </p:sp>
      <p:sp>
        <p:nvSpPr>
          <p:cNvPr id="10" name="Chevron 9"/>
          <p:cNvSpPr/>
          <p:nvPr/>
        </p:nvSpPr>
        <p:spPr>
          <a:xfrm>
            <a:off x="4974336" y="1783080"/>
            <a:ext cx="2240280" cy="868680"/>
          </a:xfrm>
          <a:prstGeom prst="chevron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3. Gold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0055" y="288036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3" y="3017520"/>
            <a:ext cx="18105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Calibri"/>
              </a:rPr>
              <a:t>poliza_360, siniestralidad mensual y discrepancias por fecha de corte</a:t>
            </a:r>
          </a:p>
        </p:txBody>
      </p:sp>
      <p:sp>
        <p:nvSpPr>
          <p:cNvPr id="13" name="Chevron 12"/>
          <p:cNvSpPr/>
          <p:nvPr/>
        </p:nvSpPr>
        <p:spPr>
          <a:xfrm>
            <a:off x="7187183" y="1783080"/>
            <a:ext cx="2240280" cy="868680"/>
          </a:xfrm>
          <a:prstGeom prst="chevron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4. Validar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2903" y="288036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3017520"/>
            <a:ext cx="18105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Calibri"/>
              </a:rPr>
              <a:t>Reconciliación Silver→Gold, postcondiciones y frescura; publica el corte</a:t>
            </a:r>
          </a:p>
        </p:txBody>
      </p:sp>
      <p:sp>
        <p:nvSpPr>
          <p:cNvPr id="16" name="Chevron 15"/>
          <p:cNvSpPr/>
          <p:nvPr/>
        </p:nvSpPr>
        <p:spPr>
          <a:xfrm>
            <a:off x="9400032" y="1783080"/>
            <a:ext cx="2240280" cy="868680"/>
          </a:xfrm>
          <a:prstGeom prst="chevron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F2A44"/>
                </a:solidFill>
                <a:latin typeface="Calibri"/>
              </a:rPr>
              <a:t>5. Gobierno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45752" y="288036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3017520"/>
            <a:ext cx="18105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Calibri"/>
              </a:rPr>
              <a:t>Vistas certificadas, máscaras PII, tags y permisos en Unity Catalog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2A44"/>
                </a:solidFill>
                <a:latin typeface="Calibri"/>
              </a:rPr>
              <a:t>Ejecución en un solo paso o como Workflow programado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Calibri"/>
              </a:rPr>
              <a:t>Los notebooks solo orquestan: toda la lógica vive en src/ (módulos reutilizables, probados con pytest en local y en CI). Mismo run_id = {{job.run_id}} para todas las tareas de una ejecución.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Prueba técnica · Ingeniero de Datos · Pólizas y siniestros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2A44"/>
                </a:solidFill>
                <a:latin typeface="Cambria"/>
              </a:rPr>
              <a:t>Calidad: cada regla tiene severidad, acción y umbral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B6B7B"/>
                </a:solidFill>
                <a:latin typeface="Calibri"/>
              </a:rPr>
              <a:t>60+ reglas en 6 dimensiones; los errores se aíslan y las excepciones válidas se reportan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0350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911095"/>
            <a:ext cx="548640" cy="548640"/>
          </a:xfrm>
          <a:prstGeom prst="ellipse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A44"/>
                </a:solidFill>
                <a:latin typeface="Calibri"/>
              </a:rPr>
              <a:t>BLOQUEO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3055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Supera el umbral → la tarea falla después de registrar evidencias; Gold no se publica. Ej.: prima &gt; 0 (umbral 2%)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61488"/>
            <a:ext cx="60350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935224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5292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A44"/>
                </a:solidFill>
                <a:latin typeface="Calibri"/>
              </a:rPr>
              <a:t>ADVERTENCIA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54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Supera el umbral → alerta al data steward; el pipeline continúa. Ej.: póliza existe (2%), pago en vigencia (60%)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85616"/>
            <a:ext cx="60350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959352"/>
            <a:ext cx="548640" cy="5486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7705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A44"/>
                </a:solidFill>
                <a:latin typeface="Calibri"/>
              </a:rPr>
              <a:t>INFORMATIVA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1788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Solo métrica para tendencias y oportunidad. Ej.: llegada tardía &gt; 30 días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92040"/>
            <a:ext cx="6035040" cy="128016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10912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2A541"/>
                </a:solidFill>
                <a:latin typeface="Calibri"/>
              </a:rPr>
              <a:t>Acción por registro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CUARENTENA: sale de Silver con regla, fecha, run_id y registro original.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MARCAR: sigue a Silver con la regla en _dq_advertencias.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858000" y="1600200"/>
          <a:ext cx="47548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Prueba técnica · Ingeniero de Datos · Pólizas y siniestros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2A44"/>
                </a:solidFill>
                <a:latin typeface="Cambria"/>
              </a:rPr>
              <a:t>Productos Gold orientados a las preguntas del negocio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B6B7B"/>
                </a:solidFill>
                <a:latin typeface="Calibri"/>
              </a:rPr>
              <a:t>Una foto por fecha de corte: reprocesar un mes reemplaza solo ese 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3852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A44"/>
                </a:solidFill>
                <a:latin typeface="Calibri"/>
              </a:rPr>
              <a:t>gold_poliza_360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0428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1B998B"/>
                </a:solidFill>
                <a:latin typeface="Calibri"/>
              </a:rPr>
              <a:t>1 fila por póliza y corte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70048"/>
            <a:ext cx="4251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Calibri"/>
              </a:rPr>
              <a:t>Estado al corte (vigente, próxima a vencer, vencida, renovada, cancelada), prima, recaudo, saldo, siniestros, última actividad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965960"/>
            <a:ext cx="594360" cy="59436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93852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A44"/>
                </a:solidFill>
                <a:latin typeface="Calibri"/>
              </a:rPr>
              <a:t>gold_siniestralidad_mensual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30428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1B998B"/>
                </a:solidFill>
                <a:latin typeface="Calibri"/>
              </a:rPr>
              <a:t>Mes × producto × sucursal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670048"/>
            <a:ext cx="4251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Calibri"/>
              </a:rPr>
              <a:t>Pólizas expuestas, prima devengada pro rata, emitida, recaudada, pendiente, costo incurrido y razón de siniestralidad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39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4206240"/>
            <a:ext cx="594360" cy="59436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78807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A44"/>
                </a:solidFill>
                <a:latin typeface="Calibri"/>
              </a:rPr>
              <a:t>gold_calidad_pipeline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54456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1B998B"/>
                </a:solidFill>
                <a:latin typeface="Calibri"/>
              </a:rPr>
              <a:t>Control × dataset × ejecución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910327"/>
            <a:ext cx="4251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Calibri"/>
              </a:rPr>
              <a:t>Reglas, contratos, reconciliaciones, postcondiciones y frescura con resultado OK / ADVERTENCIA / FALLA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977639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4206240"/>
            <a:ext cx="594360" cy="59436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2A44"/>
                </a:solidFill>
                <a:latin typeface="Calibri"/>
              </a:rPr>
              <a:t>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178807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A44"/>
                </a:solidFill>
                <a:latin typeface="Calibri"/>
              </a:rPr>
              <a:t>gold_discrepancias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54456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1B998B"/>
                </a:solidFill>
                <a:latin typeface="Calibri"/>
              </a:rPr>
              <a:t>Hallazgo × corte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910327"/>
            <a:ext cx="4251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Calibri"/>
              </a:rPr>
              <a:t>Pagos sin póliza, siniestros sin póliza válida, movimientos fuera de vigencia, estados inconsistentes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Prueba técnica · Ingeniero de Datos · Pólizas y siniestros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2A44"/>
                </a:solidFill>
                <a:latin typeface="Cambria"/>
              </a:rPr>
              <a:t>Resultados del corte 2026-08-31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B6B7B"/>
                </a:solidFill>
                <a:latin typeface="Calibri"/>
              </a:rPr>
              <a:t>Ejecución con los datos reales de la prueba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58521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720840" y="169164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85431" y="18288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B998B"/>
                </a:solidFill>
                <a:latin typeface="Cambria"/>
              </a:rPr>
              <a:t>$11.165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5431" y="23774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prima emitida (COP)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69164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00032" y="18288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B998B"/>
                </a:solidFill>
                <a:latin typeface="Cambria"/>
              </a:rPr>
              <a:t>$7.212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00032" y="23774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recaudo aplicado (COP)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10896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1" y="32461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2A44"/>
                </a:solidFill>
                <a:latin typeface="Cambria"/>
              </a:rPr>
              <a:t>$79.523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1" y="37947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costo incurrido (COP)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310896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32461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84B31"/>
                </a:solidFill>
                <a:latin typeface="Cambria"/>
              </a:rPr>
              <a:t>2.429 · 1.959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37947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pagos · siniestros fuera de vigencia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4663440"/>
            <a:ext cx="4892040" cy="146304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773168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2A541"/>
                </a:solidFill>
                <a:latin typeface="Calibri"/>
              </a:rPr>
              <a:t>Lectura de negocio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Los costos muy altos y el gran volumen fuera de vigencia son propios del dato dummy: la solución los expone como discrepancias para investigación en lugar de ocultarlos.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Prueba técnica · Ingeniero de Datos · Pólizas y siniestros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2A44"/>
                </a:solidFill>
                <a:latin typeface="Cambria"/>
              </a:rPr>
              <a:t>Reejecutar o reprocesar nunca duplica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B6B7B"/>
                </a:solidFill>
                <a:latin typeface="Calibri"/>
              </a:rPr>
              <a:t>Idempotencia por capa y estrategia incremental para fuentes futuras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667512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91840"/>
                <a:gridCol w="21031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Capa</a:t>
                      </a:r>
                    </a:p>
                  </a:txBody>
                  <a:tcPr marL="73152" marR="73152" marT="27432" marB="27432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Mecanismo</a:t>
                      </a:r>
                    </a:p>
                  </a:txBody>
                  <a:tcPr marL="73152" marR="73152" marT="27432" marB="27432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Clave</a:t>
                      </a:r>
                    </a:p>
                  </a:txBody>
                  <a:tcPr marL="73152" marR="73152" marT="27432" marB="27432" anchor="ctr">
                    <a:solidFill>
                      <a:srgbClr val="0F2A4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Bronze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replaceWhere + omitir archivos ya ingeridos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hash SHA-256 del archivo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MERGE (solo si cambia el hash) + sincronización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clave de negocio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Cuarentena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MERGE; RESUELTO si deja de fallar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registro × regla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Gold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replaceWhere por periodo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fecha_corte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MERGE por tarea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run_id × tarea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7373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A44"/>
                </a:solidFill>
                <a:latin typeface="Calibri"/>
              </a:rPr>
              <a:t>Evolución de fuentes</a:t>
            </a:r>
          </a:p>
        </p:txBody>
      </p:sp>
      <p:sp>
        <p:nvSpPr>
          <p:cNvPr id="6" name="Oval 5"/>
          <p:cNvSpPr/>
          <p:nvPr/>
        </p:nvSpPr>
        <p:spPr>
          <a:xfrm>
            <a:off x="7589520" y="2240279"/>
            <a:ext cx="502920" cy="50292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19456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Calibri"/>
              </a:rPr>
              <a:t>Archivos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5146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Hash + Auto Loader con checkpoint</a:t>
            </a:r>
          </a:p>
        </p:txBody>
      </p:sp>
      <p:sp>
        <p:nvSpPr>
          <p:cNvPr id="9" name="Oval 8"/>
          <p:cNvSpPr/>
          <p:nvPr/>
        </p:nvSpPr>
        <p:spPr>
          <a:xfrm>
            <a:off x="7589520" y="3026663"/>
            <a:ext cx="502920" cy="50292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98094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Calibri"/>
              </a:rPr>
              <a:t>Bases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00984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CDC por log o watermark con solape de 3 días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0" y="3813048"/>
            <a:ext cx="502920" cy="50292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7673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Calibri"/>
              </a:rPr>
              <a:t>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08736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updated_since = último watermark exitoso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4599432"/>
            <a:ext cx="502920" cy="50292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55371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Calibri"/>
              </a:rPr>
              <a:t>Eventos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7375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Streaming + MERGE por evento_id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9612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Backfill: fecha_corte = AAAA-MM-DD y modo = reproceso → recalcula y reemplaza solo esa foto. El watermark solo avanza tras una publicación exitosa.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Prueba técnica · Ingeniero de Datos · Pólizas y siniestros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2A44"/>
                </a:solidFill>
                <a:latin typeface="Cambria"/>
              </a:rPr>
              <a:t>Operación: programada, observable y con SLA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B6B7B"/>
                </a:solidFill>
                <a:latin typeface="Calibri"/>
              </a:rPr>
              <a:t>Día 5 de cada mes · 06:00 a. m. hora Colombia · cron 0 0 6 5 * ? (America/Bogota)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240280"/>
            <a:ext cx="10424160" cy="0"/>
          </a:xfrm>
          <a:prstGeom prst="line">
            <a:avLst/>
          </a:prstGeom>
          <a:ln w="22225">
            <a:solidFill>
              <a:srgbClr val="D5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A44"/>
                </a:solidFill>
                <a:latin typeface="Calibri"/>
              </a:rPr>
              <a:t>06:00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443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Inicio del job</a:t>
            </a:r>
          </a:p>
        </p:txBody>
      </p:sp>
      <p:sp>
        <p:nvSpPr>
          <p:cNvPr id="8" name="Oval 7"/>
          <p:cNvSpPr/>
          <p:nvPr/>
        </p:nvSpPr>
        <p:spPr>
          <a:xfrm>
            <a:off x="4023360" y="1965960"/>
            <a:ext cx="548640" cy="5486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606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A44"/>
                </a:solidFill>
                <a:latin typeface="Calibri"/>
              </a:rPr>
              <a:t>~06:15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Bronze · Silver · Gold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1965960"/>
            <a:ext cx="548640" cy="5486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606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A44"/>
                </a:solidFill>
                <a:latin typeface="Calibri"/>
              </a:rPr>
              <a:t>~06:20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9443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Validación y publicación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0" y="196596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26060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A44"/>
                </a:solidFill>
                <a:latin typeface="Calibri"/>
              </a:rPr>
              <a:t>09:00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294436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Límite del SLA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57600"/>
            <a:ext cx="55778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3075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A44"/>
                </a:solidFill>
                <a:latin typeface="Calibri"/>
              </a:rPr>
              <a:t>Reintentos y timeouts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2 reintentos cada 5 min por tarea; Silver 1 (fallos de calidad son determinísticos)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6280"/>
            <a:ext cx="55778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9943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A44"/>
                </a:solidFill>
                <a:latin typeface="Calibri"/>
              </a:rPr>
              <a:t>Alertas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Correo on-failure y duración &gt; 1 h; corporativo: Teams / PagerDuty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55778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6811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A44"/>
                </a:solidFill>
                <a:latin typeface="Calibri"/>
              </a:rPr>
              <a:t>Recuperación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607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Repair run desde la tarea fallida; archivos RECHAZADO; RESTORE con time travel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657600"/>
            <a:ext cx="5212080" cy="2487168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76732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A541"/>
                </a:solidFill>
                <a:latin typeface="Calibri"/>
              </a:rPr>
              <a:t>Tablero de control (vw_obs_*)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20624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3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Calibri"/>
              </a:rPr>
              <a:t>Estado y duración por tarea</a:t>
            </a:r>
          </a:p>
          <a:p>
            <a:pPr marL="201168" indent="-201168">
              <a:spcAft>
                <a:spcPts val="3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Calibri"/>
              </a:rPr>
              <a:t>Volúmenes, aceptados, rechazados, duplicados</a:t>
            </a:r>
          </a:p>
          <a:p>
            <a:pPr marL="201168" indent="-201168">
              <a:spcAft>
                <a:spcPts val="3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Calibri"/>
              </a:rPr>
              <a:t>Frescura y cumplimiento del SLA</a:t>
            </a:r>
          </a:p>
          <a:p>
            <a:pPr marL="201168" indent="-201168">
              <a:spcAft>
                <a:spcPts val="3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Calibri"/>
              </a:rPr>
              <a:t>Evolución del esquema y costo estimado (DBU)</a:t>
            </a:r>
          </a:p>
          <a:p>
            <a:pPr marL="201168" indent="-201168">
              <a:spcAft>
                <a:spcPts val="3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Calibri"/>
              </a:rPr>
              <a:t>Resultado de cada regla y reconciliación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Prueba técnica · Ingeniero de Datos · Pólizas y siniestros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2A44"/>
                </a:solidFill>
                <a:latin typeface="Cambria"/>
              </a:rPr>
              <a:t>Gobierno con Unity Catalog y mínimo privilegio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B6B7B"/>
                </a:solidFill>
                <a:latin typeface="Calibri"/>
              </a:rPr>
              <a:t>Todo objeto (volumen, tablas, vistas, funciones) registrado, documentado y con dueño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6766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914400"/>
                <a:gridCol w="1097280"/>
                <a:gridCol w="1188720"/>
                <a:gridCol w="9144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</a:t>
                      </a:r>
                    </a:p>
                  </a:txBody>
                  <a:tcPr marL="73152" marR="73152" marT="27432" marB="27432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Bronze</a:t>
                      </a:r>
                    </a:p>
                  </a:txBody>
                  <a:tcPr marL="73152" marR="73152" marT="27432" marB="27432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 marL="73152" marR="73152" marT="27432" marB="27432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Cuarentena</a:t>
                      </a:r>
                    </a:p>
                  </a:txBody>
                  <a:tcPr marL="73152" marR="73152" marT="27432" marB="27432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Gold / vistas</a:t>
                      </a:r>
                    </a:p>
                  </a:txBody>
                  <a:tcPr marL="73152" marR="73152" marT="27432" marB="27432" anchor="ctr">
                    <a:solidFill>
                      <a:srgbClr val="0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PII</a:t>
                      </a:r>
                    </a:p>
                  </a:txBody>
                  <a:tcPr marL="73152" marR="73152" marT="27432" marB="27432" anchor="ctr"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data_engineers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masc.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data_stewards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masc.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data_analysts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pii_lectores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Evaluadores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lectura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lectura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lectura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lectura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masc.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0" y="1737360"/>
            <a:ext cx="4023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A44"/>
                </a:solidFill>
                <a:latin typeface="Calibri"/>
              </a:rPr>
              <a:t>Clasificación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21408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Documento, correo, teléfono = PII alta; nacimiento = media (tags)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834639"/>
            <a:ext cx="4023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92607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A44"/>
                </a:solidFill>
                <a:latin typeface="Calibri"/>
              </a:rPr>
              <a:t>Enmascaramiento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218687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Máscaras de columna fn_mask_*: solo pii_lectores ve el dato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931920"/>
            <a:ext cx="4023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02335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A44"/>
                </a:solidFill>
                <a:latin typeface="Calibri"/>
              </a:rPr>
              <a:t>Linaje y 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315968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Linaje UC automático + _record_id, _file_hash, run_id por fila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5029200"/>
            <a:ext cx="4023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5120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A44"/>
                </a:solidFill>
                <a:latin typeface="Calibri"/>
              </a:rPr>
              <a:t>Datos personales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413248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Ley 1581: retención limitada, supresión con DELETE + VACUUM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83480"/>
            <a:ext cx="6766560" cy="118872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02352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2A541"/>
                </a:solidFill>
                <a:latin typeface="Calibri"/>
              </a:rPr>
              <a:t>Sin secretos en código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 solución no requiere credenciales; corporativamente Key Vault + secret scopes u OIDC. CI valida que no se versionen datos ni secretos.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Prueba técnica · Ingeniero de Datos · Pólizas y siniestros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2A44"/>
                </a:solidFill>
                <a:latin typeface="Cambria"/>
              </a:rPr>
              <a:t>Promoción del mismo artefacto: DEV → QA → PROD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B6B7B"/>
                </a:solidFill>
                <a:latin typeface="Calibri"/>
              </a:rPr>
              <a:t>La implementación usa un único ambiente; la estrategia corporativa aísla workspaces y catálogos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777240" cy="7772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F2933"/>
                </a:solidFill>
                <a:latin typeface="Calibri"/>
              </a:rPr>
              <a:t>Fusión en dll → deploy automático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260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Datos sintéticos / enmascarados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2788920"/>
            <a:ext cx="365761" cy="0"/>
          </a:xfrm>
          <a:prstGeom prst="line">
            <a:avLst/>
          </a:prstGeom>
          <a:ln w="22225">
            <a:solidFill>
              <a:srgbClr val="5B6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89120" y="178308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1965960"/>
            <a:ext cx="777240" cy="77724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01168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F2933"/>
                </a:solidFill>
                <a:latin typeface="Calibri"/>
              </a:rPr>
              <a:t>Tag vX.Y.Z → deploy + ejecución de pruebas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260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Subconjunto enmascarado de producción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8120" y="2788920"/>
            <a:ext cx="365759" cy="0"/>
          </a:xfrm>
          <a:prstGeom prst="line">
            <a:avLst/>
          </a:prstGeom>
          <a:ln w="22225">
            <a:solidFill>
              <a:srgbClr val="5B6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0" y="178308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58200" y="1965960"/>
            <a:ext cx="777240" cy="7772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2A44"/>
                </a:solidFill>
                <a:latin typeface="Calibri"/>
              </a:rPr>
              <a:t>PROD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01168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F2933"/>
                </a:solidFill>
                <a:latin typeface="Calibri"/>
              </a:rPr>
              <a:t>Aprobación manual (environment protegido)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9260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Datos reales · run_as service principal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2633472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4279392"/>
            <a:ext cx="457200" cy="45720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3159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A44"/>
                </a:solidFill>
                <a:latin typeface="Calibri"/>
              </a:rPr>
              <a:t>Pull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Revisión obligatoria hacia dll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64992" y="4114800"/>
            <a:ext cx="2633472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47872" y="4279392"/>
            <a:ext cx="457200" cy="45720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2" y="43159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A44"/>
                </a:solidFill>
                <a:latin typeface="Calibri"/>
              </a:rPr>
              <a:t>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84632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Ruff + 20 pruebas + validación del bundle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4114800"/>
            <a:ext cx="2633472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4279392"/>
            <a:ext cx="457200" cy="45720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3" y="43159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A44"/>
                </a:solidFill>
                <a:latin typeface="Calibri"/>
              </a:rPr>
              <a:t>Artefacto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484632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Asset Bundle versionado (commit / tag)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97696" y="4114800"/>
            <a:ext cx="2633472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80576" y="4279392"/>
            <a:ext cx="457200" cy="45720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74936" y="43159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A44"/>
                </a:solidFill>
                <a:latin typeface="Calibri"/>
              </a:rPr>
              <a:t>Rollback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484632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Redeploy del tag anterior + RESTORE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1F2933"/>
                </a:solidFill>
                <a:latin typeface="Calibri"/>
              </a:rPr>
              <a:t>Catálogos por ambiente (dev_seguros, qa_seguros, prod_seguros) con workspace binding: DEV no puede leer PROD.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Prueba técnica · Ingeniero de Datos · Pólizas y siniestros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Riesgos asumidos y líneas de evolución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CFE3F0"/>
                </a:solidFill>
                <a:latin typeface="Calibri"/>
              </a:rPr>
              <a:t>Decisiones explícitas y próximos pasos hacia una solución corporativa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40680" cy="3429000"/>
          </a:xfrm>
          <a:prstGeom prst="roundRect">
            <a:avLst>
              <a:gd name="adj" fmla="val 8000"/>
            </a:avLst>
          </a:prstGeom>
          <a:solidFill>
            <a:srgbClr val="17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3852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2A541"/>
                </a:solidFill>
                <a:latin typeface="Calibri"/>
              </a:rPr>
              <a:t>Riesgos y supuestos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514600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1000"/>
              </a:spcAft>
              <a:buChar char="•"/>
            </a:pPr>
            <a:r>
              <a:rPr sz="1500">
                <a:solidFill>
                  <a:srgbClr val="FFFFFF"/>
                </a:solidFill>
                <a:latin typeface="Calibri"/>
              </a:rPr>
              <a:t>Fechas dd/MM vs MM/dd: supuesto día/mes, ratificar en el contrato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sz="1500">
                <a:solidFill>
                  <a:srgbClr val="FFFFFF"/>
                </a:solidFill>
                <a:latin typeface="Calibri"/>
              </a:rPr>
              <a:t>Estado de póliza sin historia: backfill usa el estado vigente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sz="1500">
                <a:solidFill>
                  <a:srgbClr val="FFFFFF"/>
                </a:solidFill>
                <a:latin typeface="Calibri"/>
              </a:rPr>
              <a:t>Fecha efectiva de cancelación inferida de fecha_actualizacion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sz="1500">
                <a:solidFill>
                  <a:srgbClr val="FFFFFF"/>
                </a:solidFill>
                <a:latin typeface="Calibri"/>
              </a:rPr>
              <a:t>Umbrales calibrados con datos dummy: acordarlos con los owners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sz="1500">
                <a:solidFill>
                  <a:srgbClr val="FFFFFF"/>
                </a:solidFill>
                <a:latin typeface="Calibri"/>
              </a:rPr>
              <a:t>Free Edition: un ambiente, serverless, grupos limitados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440680" cy="3429000"/>
          </a:xfrm>
          <a:prstGeom prst="roundRect">
            <a:avLst>
              <a:gd name="adj" fmla="val 8000"/>
            </a:avLst>
          </a:prstGeom>
          <a:solidFill>
            <a:srgbClr val="17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3852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B998B"/>
                </a:solidFill>
                <a:latin typeface="Calibri"/>
              </a:rPr>
              <a:t>Evolución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14600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1000"/>
              </a:spcAft>
              <a:buChar char="•"/>
            </a:pPr>
            <a:r>
              <a:rPr sz="1500">
                <a:solidFill>
                  <a:srgbClr val="FFFFFF"/>
                </a:solidFill>
                <a:latin typeface="Calibri"/>
              </a:rPr>
              <a:t>Silver incremental con Change Data Feed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sz="1500">
                <a:solidFill>
                  <a:srgbClr val="FFFFFF"/>
                </a:solidFill>
                <a:latin typeface="Calibri"/>
              </a:rPr>
              <a:t>SCD2 de pólizas desde eventos para cortes as-of exactos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sz="1500">
                <a:solidFill>
                  <a:srgbClr val="FFFFFF"/>
                </a:solidFill>
                <a:latin typeface="Calibri"/>
              </a:rPr>
              <a:t>Reglas y umbrales externalizados (DQX / expectativas)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sz="1500">
                <a:solidFill>
                  <a:srgbClr val="FFFFFF"/>
                </a:solidFill>
                <a:latin typeface="Calibri"/>
              </a:rPr>
              <a:t>AI/BI Dashboard y alertas SQL; costos con system.billing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sz="1500">
                <a:solidFill>
                  <a:srgbClr val="FFFFFF"/>
                </a:solidFill>
                <a:latin typeface="Calibri"/>
              </a:rPr>
              <a:t>Streaming de eventos y Genie space sobre vistas certificadas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B998B"/>
                </a:solidFill>
                <a:latin typeface="Cambria"/>
              </a:rPr>
              <a:t>Reproducible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54406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2A541"/>
                </a:solidFill>
                <a:latin typeface="Cambria"/>
              </a:rPr>
              <a:t>Auditable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54406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CFE3F0"/>
                </a:solidFill>
                <a:latin typeface="Cambria"/>
              </a:rPr>
              <a:t>Reutilizable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FE3F0"/>
                </a:solidFill>
                <a:latin typeface="Calibri"/>
              </a:rPr>
              <a:t>Prueba técnica · Ingeniero de Datos · Pólizas y siniestros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CFE3F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